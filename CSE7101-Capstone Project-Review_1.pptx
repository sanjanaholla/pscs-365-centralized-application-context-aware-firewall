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5" r:id="rId7"/>
    <p:sldId id="276" r:id="rId8"/>
    <p:sldId id="277" r:id="rId9"/>
    <p:sldId id="273" r:id="rId10"/>
    <p:sldId id="272" r:id="rId11"/>
    <p:sldId id="278" r:id="rId12"/>
    <p:sldId id="268" r:id="rId13"/>
    <p:sldId id="265" r:id="rId14"/>
    <p:sldId id="270"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hyperlink" Target="https://www.paloaltonetworks.com/network-security"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latin typeface="Cambria" panose="02040503050406030204" pitchFamily="18" charset="0"/>
                <a:ea typeface="Cambria" panose="02040503050406030204" pitchFamily="18" charset="0"/>
              </a:rPr>
              <a:t>Centralized Application-Context Aware Firewall</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IST_33</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IN"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lang="en-IN"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IN"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 Poornima S </a:t>
            </a:r>
            <a:endParaRPr lang="en-IN"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IN"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Associative Professor </a:t>
            </a:r>
            <a:endParaRPr lang="en-IN"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gridCol w="3333675"/>
              </a:tblGrid>
              <a:tr h="306243">
                <a:tc>
                  <a:txBody>
                    <a:bodyPr/>
                    <a:lstStyle/>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Roll Number</a:t>
                      </a:r>
                      <a:endParaRPr sz="1800" b="1" u="none" strike="noStrike" cap="none" dirty="0">
                        <a:solidFill>
                          <a:srgbClr val="17365D"/>
                        </a:solidFill>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Student Name</a:t>
                      </a:r>
                      <a:endParaRPr sz="1800" b="1" u="none" strike="noStrike" cap="none" dirty="0">
                        <a:solidFill>
                          <a:srgbClr val="17365D"/>
                        </a:solidFill>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Font typeface="+mj-lt"/>
                        <a:buNone/>
                      </a:pPr>
                      <a:r>
                        <a:rPr lang="en-US" sz="1800" u="none" strike="noStrike" cap="none" dirty="0">
                          <a:latin typeface="Cambria" panose="02040503050406030204" pitchFamily="18" charset="0"/>
                          <a:ea typeface="Cambria" panose="02040503050406030204" pitchFamily="18" charset="0"/>
                        </a:rPr>
                        <a:t>20221IST0109</a:t>
                      </a:r>
                      <a:endParaRPr lang="en-US" sz="1800" u="none" strike="noStrike" cap="none" dirty="0">
                        <a:latin typeface="Cambria" panose="02040503050406030204" pitchFamily="18" charset="0"/>
                        <a:ea typeface="Cambria" panose="02040503050406030204" pitchFamily="18" charset="0"/>
                      </a:endParaRPr>
                    </a:p>
                    <a:p>
                      <a:pPr marL="0" marR="0" lvl="0" indent="0" algn="ctr" rtl="0">
                        <a:spcBef>
                          <a:spcPts val="0"/>
                        </a:spcBef>
                        <a:spcAft>
                          <a:spcPts val="0"/>
                        </a:spcAft>
                        <a:buFont typeface="+mj-lt"/>
                        <a:buNone/>
                      </a:pPr>
                      <a:r>
                        <a:rPr lang="en-US" sz="1800" u="none" strike="noStrike" cap="none" dirty="0">
                          <a:latin typeface="Cambria" panose="02040503050406030204" pitchFamily="18" charset="0"/>
                          <a:ea typeface="Cambria" panose="02040503050406030204" pitchFamily="18" charset="0"/>
                        </a:rPr>
                        <a:t>20221IST0100</a:t>
                      </a:r>
                      <a:endParaRPr lang="en-US" sz="1800" u="none" strike="noStrike" cap="none" dirty="0">
                        <a:latin typeface="Cambria" panose="02040503050406030204" pitchFamily="18" charset="0"/>
                        <a:ea typeface="Cambria" panose="02040503050406030204" pitchFamily="18" charset="0"/>
                      </a:endParaRPr>
                    </a:p>
                    <a:p>
                      <a:pPr marL="0" marR="0" lvl="0" indent="0" algn="ctr" rtl="0">
                        <a:spcBef>
                          <a:spcPts val="0"/>
                        </a:spcBef>
                        <a:spcAft>
                          <a:spcPts val="0"/>
                        </a:spcAft>
                        <a:buFont typeface="+mj-lt"/>
                        <a:buNone/>
                      </a:pPr>
                      <a:r>
                        <a:rPr lang="en-US" sz="1800" u="none" strike="noStrike" cap="none" dirty="0">
                          <a:latin typeface="Cambria" panose="02040503050406030204" pitchFamily="18" charset="0"/>
                          <a:ea typeface="Cambria" panose="02040503050406030204" pitchFamily="18" charset="0"/>
                        </a:rPr>
                        <a:t>20221IST0114</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latin typeface="Cambria" panose="02040503050406030204" pitchFamily="18" charset="0"/>
                          <a:ea typeface="Cambria" panose="02040503050406030204" pitchFamily="18" charset="0"/>
                        </a:rPr>
                        <a:t>SANJANA K </a:t>
                      </a:r>
                      <a:endParaRPr lang="en-US" sz="1800" u="none" strike="noStrike" cap="none" dirty="0">
                        <a:latin typeface="Cambria" panose="02040503050406030204" pitchFamily="18" charset="0"/>
                        <a:ea typeface="Cambria" panose="02040503050406030204" pitchFamily="18" charset="0"/>
                      </a:endParaRPr>
                    </a:p>
                    <a:p>
                      <a:pPr marL="0" marR="0" lvl="0" indent="0" algn="ctr" rtl="0">
                        <a:spcBef>
                          <a:spcPts val="0"/>
                        </a:spcBef>
                        <a:spcAft>
                          <a:spcPts val="0"/>
                        </a:spcAft>
                        <a:buNone/>
                      </a:pPr>
                      <a:r>
                        <a:rPr lang="en-US" sz="1800" u="none" strike="noStrike" cap="none" dirty="0">
                          <a:latin typeface="Cambria" panose="02040503050406030204" pitchFamily="18" charset="0"/>
                          <a:ea typeface="Cambria" panose="02040503050406030204" pitchFamily="18" charset="0"/>
                        </a:rPr>
                        <a:t>HARINI K HEGDE</a:t>
                      </a:r>
                      <a:endParaRPr lang="en-US" sz="1800" u="none" strike="noStrike" cap="none" dirty="0">
                        <a:latin typeface="Cambria" panose="02040503050406030204" pitchFamily="18" charset="0"/>
                        <a:ea typeface="Cambria" panose="02040503050406030204" pitchFamily="18" charset="0"/>
                      </a:endParaRPr>
                    </a:p>
                    <a:p>
                      <a:pPr marL="0" marR="0" lvl="0" indent="0" algn="ctr" rtl="0">
                        <a:spcBef>
                          <a:spcPts val="0"/>
                        </a:spcBef>
                        <a:spcAft>
                          <a:spcPts val="0"/>
                        </a:spcAft>
                        <a:buNone/>
                      </a:pPr>
                      <a:r>
                        <a:rPr lang="en-US" sz="1800" u="none" strike="noStrike" cap="none" dirty="0">
                          <a:latin typeface="Cambria" panose="02040503050406030204" pitchFamily="18" charset="0"/>
                          <a:ea typeface="Cambria" panose="02040503050406030204" pitchFamily="18" charset="0"/>
                        </a:rPr>
                        <a:t>SNEHA S</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Information Science and Technology</a:t>
            </a:r>
            <a:endPar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Pallavi R</a:t>
            </a:r>
            <a:endPar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 Benitha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Christinal</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J , Associative Professor(</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SoCSE</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a:t>
            </a:r>
            <a:endPar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IN" dirty="0"/>
              <a:t>PSCS_365</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1700" dirty="0">
                <a:latin typeface="Cambria" panose="02040503050406030204" pitchFamily="18" charset="0"/>
                <a:ea typeface="Cambria" panose="02040503050406030204" pitchFamily="18" charset="0"/>
              </a:rPr>
              <a:t>Develop a </a:t>
            </a:r>
            <a:r>
              <a:rPr lang="en-US" sz="1700" b="1" dirty="0">
                <a:latin typeface="Cambria" panose="02040503050406030204" pitchFamily="18" charset="0"/>
                <a:ea typeface="Cambria" panose="02040503050406030204" pitchFamily="18" charset="0"/>
              </a:rPr>
              <a:t>context-aware application firewall</a:t>
            </a:r>
            <a:r>
              <a:rPr lang="en-US" sz="1700" dirty="0">
                <a:latin typeface="Cambria" panose="02040503050406030204" pitchFamily="18" charset="0"/>
                <a:ea typeface="Cambria" panose="02040503050406030204" pitchFamily="18" charset="0"/>
              </a:rPr>
              <a:t> for endpoints that can identify and control each application’s access to external networks. The firewall will allow </a:t>
            </a:r>
            <a:r>
              <a:rPr lang="en-US" sz="1700" b="1" dirty="0">
                <a:latin typeface="Cambria" panose="02040503050406030204" pitchFamily="18" charset="0"/>
                <a:ea typeface="Cambria" panose="02040503050406030204" pitchFamily="18" charset="0"/>
              </a:rPr>
              <a:t>granular restrictions</a:t>
            </a:r>
            <a:r>
              <a:rPr lang="en-US" sz="1700" dirty="0">
                <a:latin typeface="Cambria" panose="02040503050406030204" pitchFamily="18" charset="0"/>
                <a:ea typeface="Cambria" panose="02040503050406030204" pitchFamily="18" charset="0"/>
              </a:rPr>
              <a:t> on domains, IPs, and protocols, managed via a </a:t>
            </a:r>
            <a:r>
              <a:rPr lang="en-US" sz="1700" b="1" dirty="0">
                <a:latin typeface="Cambria" panose="02040503050406030204" pitchFamily="18" charset="0"/>
                <a:ea typeface="Cambria" panose="02040503050406030204" pitchFamily="18" charset="0"/>
              </a:rPr>
              <a:t>centralized web console</a:t>
            </a:r>
            <a:r>
              <a:rPr lang="en-US" sz="1700" dirty="0">
                <a:latin typeface="Cambria" panose="02040503050406030204" pitchFamily="18" charset="0"/>
                <a:ea typeface="Cambria" panose="02040503050406030204" pitchFamily="18" charset="0"/>
              </a:rPr>
              <a:t>. An </a:t>
            </a:r>
            <a:r>
              <a:rPr lang="en-US" sz="1700" b="1" dirty="0">
                <a:latin typeface="Cambria" panose="02040503050406030204" pitchFamily="18" charset="0"/>
                <a:ea typeface="Cambria" panose="02040503050406030204" pitchFamily="18" charset="0"/>
              </a:rPr>
              <a:t>endpoint agent</a:t>
            </a:r>
            <a:r>
              <a:rPr lang="en-US" sz="1700" dirty="0">
                <a:latin typeface="Cambria" panose="02040503050406030204" pitchFamily="18" charset="0"/>
                <a:ea typeface="Cambria" panose="02040503050406030204" pitchFamily="18" charset="0"/>
              </a:rPr>
              <a:t> will enforce policies, log application network usage, and send data to the central server. Using </a:t>
            </a:r>
            <a:r>
              <a:rPr lang="en-US" sz="1700" b="1" dirty="0">
                <a:latin typeface="Cambria" panose="02040503050406030204" pitchFamily="18" charset="0"/>
                <a:ea typeface="Cambria" panose="02040503050406030204" pitchFamily="18" charset="0"/>
              </a:rPr>
              <a:t>AI/ML</a:t>
            </a:r>
            <a:r>
              <a:rPr lang="en-US" sz="1700" dirty="0">
                <a:latin typeface="Cambria" panose="02040503050406030204" pitchFamily="18" charset="0"/>
                <a:ea typeface="Cambria" panose="02040503050406030204" pitchFamily="18" charset="0"/>
              </a:rPr>
              <a:t>, the system will detect abnormal traffic behavior and generate alerts.</a:t>
            </a:r>
            <a:endParaRPr lang="en-US" sz="17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Objectives.</a:t>
            </a:r>
            <a:endParaRPr lang="en-IN" dirty="0">
              <a:latin typeface="Cambria" panose="02040503050406030204" pitchFamily="18" charset="0"/>
              <a:ea typeface="Cambria" panose="02040503050406030204" pitchFamily="18" charset="0"/>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Develop a context-aware firewall agent</a:t>
            </a:r>
            <a:r>
              <a:rPr lang="en-US" sz="1700" dirty="0">
                <a:latin typeface="Cambria" panose="02040503050406030204" pitchFamily="18" charset="0"/>
                <a:ea typeface="Cambria" panose="02040503050406030204" pitchFamily="18" charset="0"/>
              </a:rPr>
              <a:t> that can monitor and control application-level network access on endpoints.</a:t>
            </a:r>
            <a:endParaRPr lang="en-US"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Provide granular access control</a:t>
            </a:r>
            <a:r>
              <a:rPr lang="en-US" sz="1700" dirty="0">
                <a:latin typeface="Cambria" panose="02040503050406030204" pitchFamily="18" charset="0"/>
                <a:ea typeface="Cambria" panose="02040503050406030204" pitchFamily="18" charset="0"/>
              </a:rPr>
              <a:t> by restricting applications based on domains, IP addresses, and protocols.</a:t>
            </a:r>
            <a:endParaRPr lang="en-US"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Design a centralized web console</a:t>
            </a:r>
            <a:r>
              <a:rPr lang="en-US" sz="1700" dirty="0">
                <a:latin typeface="Cambria" panose="02040503050406030204" pitchFamily="18" charset="0"/>
                <a:ea typeface="Cambria" panose="02040503050406030204" pitchFamily="18" charset="0"/>
              </a:rPr>
              <a:t> to manage firewall policies, endpoints, and applications from a single interface.</a:t>
            </a:r>
            <a:r>
              <a:rPr lang="en-US" sz="1700" b="1" dirty="0">
                <a:latin typeface="Cambria" panose="02040503050406030204" pitchFamily="18" charset="0"/>
                <a:ea typeface="Cambria" panose="02040503050406030204" pitchFamily="18" charset="0"/>
              </a:rPr>
              <a:t> </a:t>
            </a:r>
            <a:endParaRPr lang="en-US" sz="1700" b="1"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Collect and analyze per-application network usage logs</a:t>
            </a:r>
            <a:r>
              <a:rPr lang="en-US" sz="1700" dirty="0">
                <a:latin typeface="Cambria" panose="02040503050406030204" pitchFamily="18" charset="0"/>
                <a:ea typeface="Cambria" panose="02040503050406030204" pitchFamily="18" charset="0"/>
              </a:rPr>
              <a:t> for better visibility and decision-making.</a:t>
            </a:r>
            <a:endParaRPr lang="en-US"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Implement AI/ML-based anomaly detection</a:t>
            </a:r>
            <a:r>
              <a:rPr lang="en-US" sz="1700" dirty="0">
                <a:latin typeface="Cambria" panose="02040503050406030204" pitchFamily="18" charset="0"/>
                <a:ea typeface="Cambria" panose="02040503050406030204" pitchFamily="18" charset="0"/>
              </a:rPr>
              <a:t> to identify abnormal traffic patterns and generate alerts.</a:t>
            </a:r>
            <a:endParaRPr lang="en-US"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Ensure compatibility with Windows endpoints</a:t>
            </a:r>
            <a:r>
              <a:rPr lang="en-US" sz="1700" dirty="0">
                <a:latin typeface="Cambria" panose="02040503050406030204" pitchFamily="18" charset="0"/>
                <a:ea typeface="Cambria" panose="02040503050406030204" pitchFamily="18" charset="0"/>
              </a:rPr>
              <a:t> (with optional Linux support).</a:t>
            </a:r>
            <a:endParaRPr lang="en-US"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Enable scalability and ease of deployment</a:t>
            </a:r>
            <a:r>
              <a:rPr lang="en-US" sz="1700" dirty="0">
                <a:latin typeface="Cambria" panose="02040503050406030204" pitchFamily="18" charset="0"/>
                <a:ea typeface="Cambria" panose="02040503050406030204" pitchFamily="18" charset="0"/>
              </a:rPr>
              <a:t> for use in enterprise environments.</a:t>
            </a:r>
            <a:endParaRPr lang="en-US" sz="1700" dirty="0">
              <a:latin typeface="Cambria" panose="02040503050406030204" pitchFamily="18" charset="0"/>
              <a:ea typeface="Cambria" panose="02040503050406030204" pitchFamily="18" charset="0"/>
            </a:endParaRPr>
          </a:p>
          <a:p>
            <a:pPr marL="76200" indent="0">
              <a:buNone/>
            </a:pPr>
            <a:endParaRPr lang="en-IN"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Background and Related work</a:t>
            </a:r>
            <a:endParaRPr lang="en-IN" dirty="0"/>
          </a:p>
        </p:txBody>
      </p:sp>
      <p:sp>
        <p:nvSpPr>
          <p:cNvPr id="3" name="Text Placeholder 2"/>
          <p:cNvSpPr>
            <a:spLocks noGrp="1"/>
          </p:cNvSpPr>
          <p:nvPr>
            <p:ph type="body" idx="1"/>
          </p:nvPr>
        </p:nvSpPr>
        <p:spPr/>
        <p:txBody>
          <a:bodyPr/>
          <a:lstStyle/>
          <a:p>
            <a:pPr marL="76200" indent="0">
              <a:buNone/>
            </a:pPr>
            <a:r>
              <a:rPr lang="en-US" dirty="0">
                <a:latin typeface="Cambria" panose="02040503050406030204" pitchFamily="18" charset="0"/>
                <a:ea typeface="Cambria" panose="02040503050406030204" pitchFamily="18" charset="0"/>
              </a:rPr>
              <a:t>Background:</a:t>
            </a:r>
            <a:endParaRPr lang="en-US" dirty="0">
              <a:latin typeface="Cambria" panose="02040503050406030204" pitchFamily="18" charset="0"/>
              <a:ea typeface="Cambria" panose="02040503050406030204" pitchFamily="18" charset="0"/>
            </a:endParaRPr>
          </a:p>
          <a:p>
            <a:pPr marL="76200" indent="0">
              <a:buNone/>
            </a:pPr>
            <a:endParaRPr lang="en-US" dirty="0"/>
          </a:p>
          <a:p>
            <a:pPr marL="76200" indent="0">
              <a:buNone/>
            </a:pPr>
            <a:r>
              <a:rPr lang="en-US" sz="1800" dirty="0">
                <a:latin typeface="Cambria" panose="02040503050406030204" pitchFamily="18" charset="0"/>
                <a:ea typeface="Cambria" panose="02040503050406030204" pitchFamily="18" charset="0"/>
              </a:rPr>
              <a:t>Modern organizations rely heavily on multiple applications such as Zoom, Teams, Dropbox, and browsers for daily operations. While these applications enhance productivity, they also introduce significant security risks. Traditional firewalls typically filter traffic based on ports or IP addresses, without visibility into which application is generating the traffic. This limitation allows malicious or unauthorized applications to communicate externally without detection, and managing separate firewall rules for different applications across endpoints becomes difficult. Existing solutions like Windows Firewall, network firewalls, and anomaly detection tools address parts of the problem, but none provide a centralized, context-aware, application-level firewalling solution</a:t>
            </a:r>
            <a:endParaRPr lang="en-US" sz="1700" dirty="0">
              <a:latin typeface="Cambria" panose="02040503050406030204" pitchFamily="18" charset="0"/>
              <a:ea typeface="Cambria" panose="02040503050406030204" pitchFamily="18" charset="0"/>
            </a:endParaRPr>
          </a:p>
          <a:p>
            <a:pPr marL="76200" indent="0">
              <a:buNone/>
            </a:pPr>
            <a:endParaRPr lang="en-IN" dirty="0"/>
          </a:p>
          <a:p>
            <a:pPr marL="76200" indent="0">
              <a:buNone/>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Background and Related work(continued)</a:t>
            </a:r>
            <a:endParaRPr lang="en-IN" dirty="0"/>
          </a:p>
        </p:txBody>
      </p:sp>
      <p:sp>
        <p:nvSpPr>
          <p:cNvPr id="3" name="Text Placeholder 2"/>
          <p:cNvSpPr>
            <a:spLocks noGrp="1"/>
          </p:cNvSpPr>
          <p:nvPr>
            <p:ph type="body" idx="1"/>
          </p:nvPr>
        </p:nvSpPr>
        <p:spPr/>
        <p:txBody>
          <a:bodyPr>
            <a:normAutofit/>
          </a:bodyPr>
          <a:lstStyle/>
          <a:p>
            <a:pPr marL="76200" indent="0">
              <a:buNone/>
            </a:pPr>
            <a:r>
              <a:rPr lang="en-US" dirty="0">
                <a:latin typeface="Cambria" panose="02040503050406030204" pitchFamily="18" charset="0"/>
                <a:ea typeface="Cambria" panose="02040503050406030204" pitchFamily="18" charset="0"/>
              </a:rPr>
              <a:t>Related work:</a:t>
            </a:r>
            <a:endParaRPr lang="en-US" b="1" dirty="0">
              <a:latin typeface="Cambria" panose="02040503050406030204" pitchFamily="18" charset="0"/>
              <a:ea typeface="Cambria" panose="02040503050406030204" pitchFamily="18" charset="0"/>
            </a:endParaRPr>
          </a:p>
          <a:p>
            <a:pPr marL="76200" indent="0">
              <a:buNone/>
            </a:pPr>
            <a:endParaRPr lang="en-US" sz="1700" b="1"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Windows Firewall / iptables (Linux):</a:t>
            </a:r>
            <a:r>
              <a:rPr lang="en-US" sz="1700" dirty="0">
                <a:latin typeface="Cambria" panose="02040503050406030204" pitchFamily="18" charset="0"/>
                <a:ea typeface="Cambria" panose="02040503050406030204" pitchFamily="18" charset="0"/>
              </a:rPr>
              <a:t> Provide rule-based blocking, but policies are hard to manage across many endpoints.</a:t>
            </a:r>
            <a:endParaRPr lang="en-US"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Next-Generation Firewalls (Palo Alto, Cisco, Fortinet):</a:t>
            </a:r>
            <a:r>
              <a:rPr lang="en-US" sz="1700" dirty="0">
                <a:latin typeface="Cambria" panose="02040503050406030204" pitchFamily="18" charset="0"/>
                <a:ea typeface="Cambria" panose="02040503050406030204" pitchFamily="18" charset="0"/>
              </a:rPr>
              <a:t> Can detect applications, but are </a:t>
            </a:r>
            <a:r>
              <a:rPr lang="en-US" sz="1700" b="1" dirty="0">
                <a:latin typeface="Cambria" panose="02040503050406030204" pitchFamily="18" charset="0"/>
                <a:ea typeface="Cambria" panose="02040503050406030204" pitchFamily="18" charset="0"/>
              </a:rPr>
              <a:t>expensive and focused at network edges, not endpoints.</a:t>
            </a:r>
            <a:endParaRPr lang="en-US" sz="1700" b="1"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AI/ML intrusion detection systems:</a:t>
            </a:r>
            <a:r>
              <a:rPr lang="en-US" sz="1700" dirty="0">
                <a:latin typeface="Cambria" panose="02040503050406030204" pitchFamily="18" charset="0"/>
                <a:ea typeface="Cambria" panose="02040503050406030204" pitchFamily="18" charset="0"/>
              </a:rPr>
              <a:t> Research shows ML models can detect abnormal traffic, but they are not yet integrated into endpoint firewalls.</a:t>
            </a:r>
            <a:endParaRPr lang="en-US" sz="1700"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sz="1700" dirty="0">
              <a:latin typeface="Cambria" panose="02040503050406030204" pitchFamily="18" charset="0"/>
              <a:ea typeface="Cambria" panose="02040503050406030204" pitchFamily="18" charset="0"/>
            </a:endParaRPr>
          </a:p>
          <a:p>
            <a:pPr marL="76200" indent="0">
              <a:buNone/>
            </a:pPr>
            <a:r>
              <a:rPr lang="en-US" sz="1800" dirty="0">
                <a:latin typeface="Cambria" panose="02040503050406030204" pitchFamily="18" charset="0"/>
                <a:ea typeface="Cambria" panose="02040503050406030204" pitchFamily="18" charset="0"/>
              </a:rPr>
              <a:t>Our project aims to </a:t>
            </a:r>
            <a:r>
              <a:rPr lang="en-US" sz="1800" b="1" dirty="0">
                <a:latin typeface="Cambria" panose="02040503050406030204" pitchFamily="18" charset="0"/>
                <a:ea typeface="Cambria" panose="02040503050406030204" pitchFamily="18" charset="0"/>
              </a:rPr>
              <a:t>bridge these gaps</a:t>
            </a:r>
            <a:r>
              <a:rPr lang="en-US" sz="1800" dirty="0">
                <a:latin typeface="Cambria" panose="02040503050406030204" pitchFamily="18" charset="0"/>
                <a:ea typeface="Cambria" panose="02040503050406030204" pitchFamily="18" charset="0"/>
              </a:rPr>
              <a:t> by creating a </a:t>
            </a:r>
            <a:r>
              <a:rPr lang="en-US" sz="1800" b="1" dirty="0">
                <a:latin typeface="Cambria" panose="02040503050406030204" pitchFamily="18" charset="0"/>
                <a:ea typeface="Cambria" panose="02040503050406030204" pitchFamily="18" charset="0"/>
              </a:rPr>
              <a:t>lightweight, centralized, AI-powered application firewall for endpoints</a:t>
            </a:r>
            <a:r>
              <a:rPr lang="en-US" sz="1800" dirty="0">
                <a:latin typeface="Cambria" panose="02040503050406030204" pitchFamily="18" charset="0"/>
                <a:ea typeface="Cambria" panose="02040503050406030204" pitchFamily="18" charset="0"/>
              </a:rPr>
              <a:t>.</a:t>
            </a:r>
            <a:endParaRPr lang="en-IN" sz="1700"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495300" indent="-342900" algn="just">
              <a:spcBef>
                <a:spcPts val="0"/>
              </a:spcBef>
              <a:buClr>
                <a:schemeClr val="tx1"/>
              </a:buClr>
              <a:buSzPct val="100000"/>
              <a:buFont typeface="Wingdings" panose="05000000000000000000" pitchFamily="2" charset="2"/>
              <a:buChar char="q"/>
            </a:pPr>
            <a:r>
              <a:rPr lang="en-US" sz="1700" b="1" dirty="0">
                <a:latin typeface="Cambria" panose="02040503050406030204" pitchFamily="18" charset="0"/>
                <a:ea typeface="Cambria" panose="02040503050406030204" pitchFamily="18" charset="0"/>
              </a:rPr>
              <a:t>Windows Service (Agent – .NET/Win32 APIs):</a:t>
            </a:r>
            <a:endParaRPr lang="en-US" sz="1700" b="1" dirty="0">
              <a:latin typeface="Cambria" panose="02040503050406030204" pitchFamily="18" charset="0"/>
              <a:ea typeface="Cambria" panose="02040503050406030204" pitchFamily="18" charset="0"/>
            </a:endParaRPr>
          </a:p>
          <a:p>
            <a:pPr marL="152400" indent="0" algn="just">
              <a:spcBef>
                <a:spcPts val="0"/>
              </a:spcBef>
              <a:buClr>
                <a:schemeClr val="tx1"/>
              </a:buClr>
              <a:buSzPct val="100000"/>
              <a:buNone/>
            </a:pPr>
            <a:r>
              <a:rPr lang="en-US" sz="1700" dirty="0">
                <a:latin typeface="Cambria" panose="02040503050406030204" pitchFamily="18" charset="0"/>
                <a:ea typeface="Cambria" panose="02040503050406030204" pitchFamily="18" charset="0"/>
              </a:rPr>
              <a:t>Runs in the background on each computer, collects system and network data, and communicates with the server.</a:t>
            </a:r>
            <a:endParaRPr lang="en-US" sz="1700" dirty="0">
              <a:latin typeface="Cambria" panose="02040503050406030204" pitchFamily="18" charset="0"/>
              <a:ea typeface="Cambria" panose="02040503050406030204" pitchFamily="18" charset="0"/>
            </a:endParaRPr>
          </a:p>
          <a:p>
            <a:pPr marL="495300" indent="-342900" algn="just">
              <a:spcBef>
                <a:spcPts val="0"/>
              </a:spcBef>
              <a:buClr>
                <a:schemeClr val="tx1"/>
              </a:buClr>
              <a:buSzPct val="100000"/>
              <a:buFont typeface="Wingdings" panose="05000000000000000000" pitchFamily="2" charset="2"/>
              <a:buChar char="q"/>
            </a:pPr>
            <a:r>
              <a:rPr lang="en-IN" sz="1700" b="1" dirty="0">
                <a:latin typeface="Cambria" panose="02040503050406030204" pitchFamily="18" charset="0"/>
                <a:ea typeface="Cambria" panose="02040503050406030204" pitchFamily="18" charset="0"/>
              </a:rPr>
              <a:t>Secure REST APIs (Communication Layer):</a:t>
            </a:r>
            <a:endParaRPr lang="en-IN" sz="1700" b="1" dirty="0">
              <a:latin typeface="Cambria" panose="02040503050406030204" pitchFamily="18" charset="0"/>
              <a:ea typeface="Cambria" panose="02040503050406030204" pitchFamily="18" charset="0"/>
            </a:endParaRPr>
          </a:p>
          <a:p>
            <a:pPr marL="152400" indent="0" algn="just">
              <a:spcBef>
                <a:spcPts val="0"/>
              </a:spcBef>
              <a:buClr>
                <a:schemeClr val="tx1"/>
              </a:buClr>
              <a:buSzPct val="100000"/>
              <a:buNone/>
            </a:pPr>
            <a:r>
              <a:rPr lang="en-US" sz="1700" dirty="0">
                <a:latin typeface="Cambria" panose="02040503050406030204" pitchFamily="18" charset="0"/>
                <a:ea typeface="Cambria" panose="02040503050406030204" pitchFamily="18" charset="0"/>
              </a:rPr>
              <a:t>Provides a safe channel (HTTPS, authentication) for agents to send data and receive instructions from the central server.</a:t>
            </a:r>
            <a:endParaRPr lang="en-US" sz="1700" dirty="0">
              <a:latin typeface="Cambria" panose="02040503050406030204" pitchFamily="18" charset="0"/>
              <a:ea typeface="Cambria" panose="02040503050406030204" pitchFamily="18" charset="0"/>
            </a:endParaRPr>
          </a:p>
          <a:p>
            <a:pPr marL="495300" indent="-342900" algn="just">
              <a:spcBef>
                <a:spcPts val="0"/>
              </a:spcBef>
              <a:buClr>
                <a:schemeClr val="tx1"/>
              </a:buClr>
              <a:buSzPct val="100000"/>
              <a:buFont typeface="Wingdings" panose="05000000000000000000" pitchFamily="2" charset="2"/>
              <a:buChar char="q"/>
            </a:pPr>
            <a:r>
              <a:rPr lang="en-IN" sz="1700" b="1" dirty="0">
                <a:latin typeface="Cambria" panose="02040503050406030204" pitchFamily="18" charset="0"/>
                <a:ea typeface="Cambria" panose="02040503050406030204" pitchFamily="18" charset="0"/>
              </a:rPr>
              <a:t>Central Web Dashboard (React + Django/Node.js):</a:t>
            </a:r>
            <a:endParaRPr lang="en-IN" sz="1700" b="1" dirty="0">
              <a:latin typeface="Cambria" panose="02040503050406030204" pitchFamily="18" charset="0"/>
              <a:ea typeface="Cambria" panose="02040503050406030204" pitchFamily="18" charset="0"/>
            </a:endParaRPr>
          </a:p>
          <a:p>
            <a:pPr marL="152400" indent="0" algn="just">
              <a:spcBef>
                <a:spcPts val="0"/>
              </a:spcBef>
              <a:buClr>
                <a:schemeClr val="tx1"/>
              </a:buClr>
              <a:buSzPct val="100000"/>
              <a:buNone/>
            </a:pPr>
            <a:r>
              <a:rPr lang="en-US" sz="1700" dirty="0">
                <a:latin typeface="Cambria" panose="02040503050406030204" pitchFamily="18" charset="0"/>
                <a:ea typeface="Cambria" panose="02040503050406030204" pitchFamily="18" charset="0"/>
              </a:rPr>
              <a:t>Web-based interface where admins log in to view system health, reports, and manage services across all machines.</a:t>
            </a:r>
            <a:endParaRPr lang="en-US" sz="1700" dirty="0">
              <a:latin typeface="Cambria" panose="02040503050406030204" pitchFamily="18" charset="0"/>
              <a:ea typeface="Cambria" panose="02040503050406030204" pitchFamily="18" charset="0"/>
            </a:endParaRPr>
          </a:p>
          <a:p>
            <a:pPr marL="495300" indent="-342900" algn="just">
              <a:spcBef>
                <a:spcPts val="0"/>
              </a:spcBef>
              <a:buClr>
                <a:schemeClr val="tx1"/>
              </a:buClr>
              <a:buSzPct val="100000"/>
              <a:buFont typeface="Wingdings" panose="05000000000000000000" pitchFamily="2" charset="2"/>
              <a:buChar char="q"/>
            </a:pPr>
            <a:r>
              <a:rPr lang="en-US" sz="1700" b="1" dirty="0">
                <a:latin typeface="Cambria" panose="02040503050406030204" pitchFamily="18" charset="0"/>
                <a:ea typeface="Cambria" panose="02040503050406030204" pitchFamily="18" charset="0"/>
              </a:rPr>
              <a:t>Machine Learning Frameworks (scikit-learn, TensorFlow):</a:t>
            </a:r>
            <a:endParaRPr lang="en-US" sz="1700" b="1" dirty="0">
              <a:latin typeface="Cambria" panose="02040503050406030204" pitchFamily="18" charset="0"/>
              <a:ea typeface="Cambria" panose="02040503050406030204" pitchFamily="18" charset="0"/>
            </a:endParaRPr>
          </a:p>
          <a:p>
            <a:pPr marL="152400" indent="0" algn="just">
              <a:spcBef>
                <a:spcPts val="0"/>
              </a:spcBef>
              <a:buClr>
                <a:schemeClr val="tx1"/>
              </a:buClr>
              <a:buSzPct val="100000"/>
              <a:buNone/>
            </a:pPr>
            <a:r>
              <a:rPr lang="en-US" sz="1700" dirty="0">
                <a:latin typeface="Cambria" panose="02040503050406030204" pitchFamily="18" charset="0"/>
                <a:ea typeface="Cambria" panose="02040503050406030204" pitchFamily="18" charset="0"/>
              </a:rPr>
              <a:t>Analyze collected data to detect anomalies, predict issues, and provide smart insights beyond raw monitoring.</a:t>
            </a:r>
            <a:endParaRPr lang="en-US" sz="17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sz="2600" b="1" dirty="0">
                <a:latin typeface="Cambria" panose="02040503050406030204" pitchFamily="18" charset="0"/>
                <a:ea typeface="Cambria" panose="02040503050406030204" pitchFamily="18" charset="0"/>
              </a:rPr>
              <a:t>Software and Hardware Requirements: </a:t>
            </a:r>
            <a:endParaRPr lang="en-US" sz="2600" b="1"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IN" sz="1700" b="1" dirty="0">
                <a:latin typeface="Cambria" panose="02040503050406030204" pitchFamily="18" charset="0"/>
                <a:ea typeface="Cambria" panose="02040503050406030204" pitchFamily="18" charset="0"/>
              </a:rPr>
              <a:t>Windows Agent (Clients)</a:t>
            </a:r>
            <a:br>
              <a:rPr lang="en-IN" sz="1700" dirty="0">
                <a:latin typeface="Cambria" panose="02040503050406030204" pitchFamily="18" charset="0"/>
                <a:ea typeface="Cambria" panose="02040503050406030204" pitchFamily="18" charset="0"/>
              </a:rPr>
            </a:br>
            <a:r>
              <a:rPr lang="en-IN" sz="1700" dirty="0">
                <a:latin typeface="Cambria" panose="02040503050406030204" pitchFamily="18" charset="0"/>
                <a:ea typeface="Cambria" panose="02040503050406030204" pitchFamily="18" charset="0"/>
              </a:rPr>
              <a:t>Software: .NET Framework / .NET 6+, Win32 APIs</a:t>
            </a:r>
            <a:br>
              <a:rPr lang="en-IN" sz="1700" dirty="0">
                <a:latin typeface="Cambria" panose="02040503050406030204" pitchFamily="18" charset="0"/>
                <a:ea typeface="Cambria" panose="02040503050406030204" pitchFamily="18" charset="0"/>
              </a:rPr>
            </a:br>
            <a:r>
              <a:rPr lang="en-IN" sz="1700" dirty="0">
                <a:latin typeface="Cambria" panose="02040503050406030204" pitchFamily="18" charset="0"/>
                <a:ea typeface="Cambria" panose="02040503050406030204" pitchFamily="18" charset="0"/>
              </a:rPr>
              <a:t>Hardware: 2-core CPU, 4 GB RAM, 20 GB disk</a:t>
            </a:r>
            <a:endParaRPr lang="en-IN"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IN" sz="1700" b="1" dirty="0">
                <a:latin typeface="Cambria" panose="02040503050406030204" pitchFamily="18" charset="0"/>
                <a:ea typeface="Cambria" panose="02040503050406030204" pitchFamily="18" charset="0"/>
              </a:rPr>
              <a:t>Server (Backend + APIs)</a:t>
            </a:r>
            <a:br>
              <a:rPr lang="en-IN" sz="1700" dirty="0">
                <a:latin typeface="Cambria" panose="02040503050406030204" pitchFamily="18" charset="0"/>
                <a:ea typeface="Cambria" panose="02040503050406030204" pitchFamily="18" charset="0"/>
              </a:rPr>
            </a:br>
            <a:r>
              <a:rPr lang="en-IN" sz="1700" dirty="0">
                <a:latin typeface="Cambria" panose="02040503050406030204" pitchFamily="18" charset="0"/>
                <a:ea typeface="Cambria" panose="02040503050406030204" pitchFamily="18" charset="0"/>
              </a:rPr>
              <a:t>Software: Django/Node.js, PostgreSQL/MySQL, Linux/Windows Server</a:t>
            </a:r>
            <a:br>
              <a:rPr lang="en-IN" sz="1700" dirty="0">
                <a:latin typeface="Cambria" panose="02040503050406030204" pitchFamily="18" charset="0"/>
                <a:ea typeface="Cambria" panose="02040503050406030204" pitchFamily="18" charset="0"/>
              </a:rPr>
            </a:br>
            <a:r>
              <a:rPr lang="en-IN" sz="1700" dirty="0">
                <a:latin typeface="Cambria" panose="02040503050406030204" pitchFamily="18" charset="0"/>
                <a:ea typeface="Cambria" panose="02040503050406030204" pitchFamily="18" charset="0"/>
              </a:rPr>
              <a:t>Hardware: 4–8 cores, 8–32 GB RAM, 100–500 GB SSD (scales with agents)</a:t>
            </a:r>
            <a:endParaRPr lang="en-IN"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IN" sz="1700" b="1" dirty="0">
                <a:latin typeface="Cambria" panose="02040503050406030204" pitchFamily="18" charset="0"/>
                <a:ea typeface="Cambria" panose="02040503050406030204" pitchFamily="18" charset="0"/>
              </a:rPr>
              <a:t>Web Dashboard (Frontend)</a:t>
            </a:r>
            <a:br>
              <a:rPr lang="en-IN" sz="1700" dirty="0">
                <a:latin typeface="Cambria" panose="02040503050406030204" pitchFamily="18" charset="0"/>
                <a:ea typeface="Cambria" panose="02040503050406030204" pitchFamily="18" charset="0"/>
              </a:rPr>
            </a:br>
            <a:r>
              <a:rPr lang="en-IN" sz="1700" dirty="0">
                <a:latin typeface="Cambria" panose="02040503050406030204" pitchFamily="18" charset="0"/>
                <a:ea typeface="Cambria" panose="02040503050406030204" pitchFamily="18" charset="0"/>
              </a:rPr>
              <a:t>Software: React.js, Nginx/Apache, modern browser</a:t>
            </a:r>
            <a:br>
              <a:rPr lang="en-IN" sz="1700" dirty="0">
                <a:latin typeface="Cambria" panose="02040503050406030204" pitchFamily="18" charset="0"/>
                <a:ea typeface="Cambria" panose="02040503050406030204" pitchFamily="18" charset="0"/>
              </a:rPr>
            </a:br>
            <a:r>
              <a:rPr lang="en-IN" sz="1700" dirty="0">
                <a:latin typeface="Cambria" panose="02040503050406030204" pitchFamily="18" charset="0"/>
                <a:ea typeface="Cambria" panose="02040503050406030204" pitchFamily="18" charset="0"/>
              </a:rPr>
              <a:t>Hardware: Standard server/VM, similar to backend</a:t>
            </a:r>
            <a:endParaRPr lang="en-IN"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IN" sz="1700" b="1" dirty="0">
                <a:latin typeface="Cambria" panose="02040503050406030204" pitchFamily="18" charset="0"/>
                <a:ea typeface="Cambria" panose="02040503050406030204" pitchFamily="18" charset="0"/>
              </a:rPr>
              <a:t>Machine Learning Layer</a:t>
            </a:r>
            <a:br>
              <a:rPr lang="en-IN" sz="1700" dirty="0">
                <a:latin typeface="Cambria" panose="02040503050406030204" pitchFamily="18" charset="0"/>
                <a:ea typeface="Cambria" panose="02040503050406030204" pitchFamily="18" charset="0"/>
              </a:rPr>
            </a:br>
            <a:r>
              <a:rPr lang="en-IN" sz="1700" dirty="0">
                <a:latin typeface="Cambria" panose="02040503050406030204" pitchFamily="18" charset="0"/>
                <a:ea typeface="Cambria" panose="02040503050406030204" pitchFamily="18" charset="0"/>
              </a:rPr>
              <a:t>Software: Python 3.9+, scikit-learn, TensorFlow, </a:t>
            </a:r>
            <a:r>
              <a:rPr lang="en-IN" sz="1700" dirty="0" err="1">
                <a:latin typeface="Cambria" panose="02040503050406030204" pitchFamily="18" charset="0"/>
                <a:ea typeface="Cambria" panose="02040503050406030204" pitchFamily="18" charset="0"/>
              </a:rPr>
              <a:t>Jupyter</a:t>
            </a:r>
            <a:br>
              <a:rPr lang="en-IN" sz="1700" dirty="0">
                <a:latin typeface="Cambria" panose="02040503050406030204" pitchFamily="18" charset="0"/>
                <a:ea typeface="Cambria" panose="02040503050406030204" pitchFamily="18" charset="0"/>
              </a:rPr>
            </a:br>
            <a:r>
              <a:rPr lang="en-IN" sz="1700" dirty="0">
                <a:latin typeface="Cambria" panose="02040503050406030204" pitchFamily="18" charset="0"/>
                <a:ea typeface="Cambria" panose="02040503050406030204" pitchFamily="18" charset="0"/>
              </a:rPr>
              <a:t>Hardware: 8+ cores, 16 GB RAM, GPU (NVIDIA) for heavy training</a:t>
            </a:r>
            <a:endParaRPr lang="en-IN" sz="17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Cambria" panose="02040503050406030204" pitchFamily="18" charset="0"/>
                <a:ea typeface="Cambria" panose="02040503050406030204" pitchFamily="18" charset="0"/>
              </a:rPr>
              <a:t>Innovation or Novel Contributions</a:t>
            </a:r>
            <a:endParaRPr lang="en-IN" dirty="0">
              <a:latin typeface="Cambria" panose="02040503050406030204" pitchFamily="18" charset="0"/>
              <a:ea typeface="Cambria" panose="02040503050406030204" pitchFamily="18" charset="0"/>
            </a:endParaRPr>
          </a:p>
        </p:txBody>
      </p:sp>
      <p:sp>
        <p:nvSpPr>
          <p:cNvPr id="9" name="Rectangle 6"/>
          <p:cNvSpPr>
            <a:spLocks noGrp="1" noChangeArrowheads="1"/>
          </p:cNvSpPr>
          <p:nvPr>
            <p:ph type="body" idx="1"/>
          </p:nvPr>
        </p:nvSpPr>
        <p:spPr bwMode="auto">
          <a:xfrm>
            <a:off x="617793" y="627623"/>
            <a:ext cx="10956413" cy="4744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buFont typeface="Wingdings" panose="05000000000000000000" pitchFamily="2" charset="2"/>
              <a:buChar char="q"/>
            </a:pPr>
            <a:endParaRPr lang="en-US" sz="1700" b="1"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sz="1700" b="1"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User Behavior + Application Context Monitoring:</a:t>
            </a:r>
            <a:endParaRPr lang="en-US" sz="1700" dirty="0">
              <a:solidFill>
                <a:schemeClr val="tx1"/>
              </a:solidFill>
              <a:latin typeface="Cambria" panose="02040503050406030204" pitchFamily="18" charset="0"/>
              <a:ea typeface="Cambria" panose="02040503050406030204" pitchFamily="18" charset="0"/>
            </a:endParaRPr>
          </a:p>
          <a:p>
            <a:pPr marL="76200" indent="0">
              <a:buNone/>
            </a:pPr>
            <a:r>
              <a:rPr lang="en-US" sz="1700" dirty="0">
                <a:latin typeface="Cambria" panose="02040503050406030204" pitchFamily="18" charset="0"/>
                <a:ea typeface="Cambria" panose="02040503050406030204" pitchFamily="18" charset="0"/>
              </a:rPr>
              <a:t>     Most firewalls only look at network traffic.</a:t>
            </a:r>
            <a:endParaRPr lang="en-US" sz="1700" dirty="0">
              <a:latin typeface="Cambria" panose="02040503050406030204" pitchFamily="18" charset="0"/>
              <a:ea typeface="Cambria" panose="02040503050406030204" pitchFamily="18" charset="0"/>
            </a:endParaRPr>
          </a:p>
          <a:p>
            <a:pPr marL="76200" indent="0">
              <a:buNone/>
            </a:pPr>
            <a:r>
              <a:rPr lang="en-US" sz="1700" dirty="0">
                <a:latin typeface="Cambria" panose="02040503050406030204" pitchFamily="18" charset="0"/>
                <a:ea typeface="Cambria" panose="02040503050406030204" pitchFamily="18" charset="0"/>
              </a:rPr>
              <a:t>     Innovation: Combine </a:t>
            </a:r>
            <a:r>
              <a:rPr lang="en-US" sz="1700" b="1" dirty="0">
                <a:latin typeface="Cambria" panose="02040503050406030204" pitchFamily="18" charset="0"/>
                <a:ea typeface="Cambria" panose="02040503050406030204" pitchFamily="18" charset="0"/>
              </a:rPr>
              <a:t>user behavior analytics</a:t>
            </a:r>
            <a:r>
              <a:rPr lang="en-US" sz="1700" dirty="0">
                <a:latin typeface="Cambria" panose="02040503050406030204" pitchFamily="18" charset="0"/>
                <a:ea typeface="Cambria" panose="02040503050406030204" pitchFamily="18" charset="0"/>
              </a:rPr>
              <a:t> with app traffic.</a:t>
            </a:r>
            <a:endParaRPr lang="en-US" sz="17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Zero-Trust Integration (Per-App Micro-Segmentation):</a:t>
            </a:r>
            <a:endParaRPr lang="en-US" sz="1700" dirty="0">
              <a:latin typeface="Cambria" panose="02040503050406030204" pitchFamily="18" charset="0"/>
              <a:ea typeface="Cambria" panose="02040503050406030204" pitchFamily="18" charset="0"/>
            </a:endParaRPr>
          </a:p>
          <a:p>
            <a:pPr marL="76200" indent="0">
              <a:buNone/>
            </a:pPr>
            <a:r>
              <a:rPr lang="en-US" sz="1700" dirty="0">
                <a:latin typeface="Cambria" panose="02040503050406030204" pitchFamily="18" charset="0"/>
                <a:ea typeface="Cambria" panose="02040503050406030204" pitchFamily="18" charset="0"/>
              </a:rPr>
              <a:t>    Apply </a:t>
            </a:r>
            <a:r>
              <a:rPr lang="en-US" sz="1700" b="1" dirty="0">
                <a:latin typeface="Cambria" panose="02040503050406030204" pitchFamily="18" charset="0"/>
                <a:ea typeface="Cambria" panose="02040503050406030204" pitchFamily="18" charset="0"/>
              </a:rPr>
              <a:t>zero-trust principles</a:t>
            </a:r>
            <a:r>
              <a:rPr lang="en-US" sz="1700" dirty="0">
                <a:latin typeface="Cambria" panose="02040503050406030204" pitchFamily="18" charset="0"/>
                <a:ea typeface="Cambria" panose="02040503050406030204" pitchFamily="18" charset="0"/>
              </a:rPr>
              <a:t> at the application level.</a:t>
            </a:r>
            <a:endParaRPr lang="en-US" sz="1700" dirty="0">
              <a:latin typeface="Cambria" panose="02040503050406030204" pitchFamily="18" charset="0"/>
              <a:ea typeface="Cambria" panose="02040503050406030204" pitchFamily="18" charset="0"/>
            </a:endParaRPr>
          </a:p>
          <a:p>
            <a:pPr marL="76200" indent="0">
              <a:buNone/>
            </a:pPr>
            <a:r>
              <a:rPr lang="en-US" sz="1700" dirty="0">
                <a:latin typeface="Cambria" panose="02040503050406030204" pitchFamily="18" charset="0"/>
                <a:ea typeface="Cambria" panose="02040503050406030204" pitchFamily="18" charset="0"/>
              </a:rPr>
              <a:t>    Each app is given a </a:t>
            </a:r>
            <a:r>
              <a:rPr lang="en-US" sz="1700" b="1" dirty="0">
                <a:latin typeface="Cambria" panose="02040503050406030204" pitchFamily="18" charset="0"/>
                <a:ea typeface="Cambria" panose="02040503050406030204" pitchFamily="18" charset="0"/>
              </a:rPr>
              <a:t>least-privilege network access profile.</a:t>
            </a:r>
            <a:endParaRPr lang="en-US" sz="1700" b="1"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1700" b="1" dirty="0">
                <a:latin typeface="Cambria" panose="02040503050406030204" pitchFamily="18" charset="0"/>
                <a:ea typeface="Cambria" panose="02040503050406030204" pitchFamily="18" charset="0"/>
              </a:rPr>
              <a:t>Gamification Dashboard for Security Teams</a:t>
            </a:r>
            <a:r>
              <a:rPr lang="en-US" sz="1700" dirty="0">
                <a:latin typeface="Cambria" panose="02040503050406030204" pitchFamily="18" charset="0"/>
                <a:ea typeface="Cambria" panose="02040503050406030204" pitchFamily="18" charset="0"/>
              </a:rPr>
              <a:t> </a:t>
            </a:r>
            <a:r>
              <a:rPr lang="en-US" sz="1700" i="1" dirty="0">
                <a:latin typeface="Cambria" panose="02040503050406030204" pitchFamily="18" charset="0"/>
                <a:ea typeface="Cambria" panose="02040503050406030204" pitchFamily="18" charset="0"/>
              </a:rPr>
              <a:t>(super unique idea)</a:t>
            </a:r>
            <a:endParaRPr lang="en-US" sz="1700" dirty="0">
              <a:latin typeface="Cambria" panose="02040503050406030204" pitchFamily="18" charset="0"/>
              <a:ea typeface="Cambria" panose="02040503050406030204" pitchFamily="18" charset="0"/>
            </a:endParaRPr>
          </a:p>
          <a:p>
            <a:pPr marL="76200" indent="0">
              <a:buNone/>
            </a:pPr>
            <a:r>
              <a:rPr lang="en-US" sz="1700" dirty="0">
                <a:latin typeface="Cambria" panose="02040503050406030204" pitchFamily="18" charset="0"/>
                <a:ea typeface="Cambria" panose="02040503050406030204" pitchFamily="18" charset="0"/>
              </a:rPr>
              <a:t>     Turn anomaly detection into a </a:t>
            </a:r>
            <a:r>
              <a:rPr lang="en-US" sz="1700" b="1" dirty="0">
                <a:latin typeface="Cambria" panose="02040503050406030204" pitchFamily="18" charset="0"/>
                <a:ea typeface="Cambria" panose="02040503050406030204" pitchFamily="18" charset="0"/>
              </a:rPr>
              <a:t>gamified dashboard</a:t>
            </a:r>
            <a:r>
              <a:rPr lang="en-US" sz="1700" dirty="0">
                <a:latin typeface="Cambria" panose="02040503050406030204" pitchFamily="18" charset="0"/>
                <a:ea typeface="Cambria" panose="02040503050406030204" pitchFamily="18" charset="0"/>
              </a:rPr>
              <a:t> for SOC teams.</a:t>
            </a:r>
            <a:endParaRPr lang="en-US" sz="1700" dirty="0">
              <a:latin typeface="Cambria" panose="02040503050406030204" pitchFamily="18" charset="0"/>
              <a:ea typeface="Cambria" panose="02040503050406030204" pitchFamily="18" charset="0"/>
            </a:endParaRPr>
          </a:p>
          <a:p>
            <a:pPr marL="76200" indent="0">
              <a:buNone/>
            </a:pPr>
            <a:r>
              <a:rPr lang="en-US" sz="1700" dirty="0">
                <a:latin typeface="Cambria" panose="02040503050406030204" pitchFamily="18" charset="0"/>
                <a:ea typeface="Cambria" panose="02040503050406030204" pitchFamily="18" charset="0"/>
              </a:rPr>
              <a:t>     Ex: Critical alerts score higher “threat points,” making monitoring more engaging  and reducing fatigue.</a:t>
            </a:r>
            <a:endParaRPr lang="en-US" sz="1700" dirty="0">
              <a:latin typeface="Cambria" panose="02040503050406030204" pitchFamily="18" charset="0"/>
              <a:ea typeface="Cambria" panose="02040503050406030204" pitchFamily="18" charset="0"/>
            </a:endParaRPr>
          </a:p>
          <a:p>
            <a:pPr marL="76200" indent="0">
              <a:buNone/>
            </a:pPr>
            <a:endParaRPr lang="en-US" sz="1700" dirty="0"/>
          </a:p>
          <a:p>
            <a:pPr marL="76200" indent="0">
              <a:buNone/>
            </a:pPr>
            <a:endParaRPr lang="en-US" sz="2000" dirty="0"/>
          </a:p>
          <a:p>
            <a:pPr marL="76200" indent="0">
              <a:buNone/>
            </a:pPr>
            <a:endParaRPr lang="en-US" sz="2000" dirty="0">
              <a:solidFill>
                <a:schemeClr val="tx1"/>
              </a:solidFill>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panose="020B0604020202020204"/>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altLang="en-GB" b="1" dirty="0">
                <a:solidFill>
                  <a:srgbClr val="C00000"/>
                </a:solidFill>
                <a:latin typeface="Cambria" panose="02040503050406030204" pitchFamily="18" charset="0"/>
                <a:ea typeface="Cambria" panose="02040503050406030204" pitchFamily="18" charset="0"/>
              </a:rPr>
              <a:t>https://github.com/Sanjanaholla/PSCS-365-Centralized-Application-Context-Aware-Firewall</a:t>
            </a:r>
            <a:endParaRPr lang="en-US" altLang="en-GB" b="1" dirty="0">
              <a:solidFill>
                <a:srgbClr val="C00000"/>
              </a:solidFill>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sz="1800" dirty="0"/>
              <a:t>[1] K. Singh and S. </a:t>
            </a:r>
            <a:r>
              <a:rPr lang="en-IN" sz="1800" dirty="0" err="1"/>
              <a:t>Silakari</a:t>
            </a:r>
            <a:r>
              <a:rPr lang="en-IN" sz="1800" dirty="0"/>
              <a:t>, “A survey of cyber-attack detection systems using machine learning,” </a:t>
            </a:r>
            <a:r>
              <a:rPr lang="en-IN" sz="1800" i="1" dirty="0"/>
              <a:t>International Journal of Computer Applications</a:t>
            </a:r>
            <a:r>
              <a:rPr lang="en-IN" sz="1800" dirty="0"/>
              <a:t>, vol. 45, no. 17, pp. 25–32, May 2021.</a:t>
            </a:r>
            <a:endParaRPr lang="en-IN" sz="1800" dirty="0"/>
          </a:p>
          <a:p>
            <a:pPr marL="76200" indent="0">
              <a:buNone/>
            </a:pPr>
            <a:r>
              <a:rPr lang="en-IN" sz="1800" dirty="0"/>
              <a:t>[2] Palo Alto Networks, “</a:t>
            </a:r>
            <a:r>
              <a:rPr lang="en-IN" sz="1800" i="1" dirty="0"/>
              <a:t>Next-Generation Firewall (NGFW) Overview,” </a:t>
            </a:r>
            <a:r>
              <a:rPr lang="en-IN" sz="1800" dirty="0"/>
              <a:t>Palo Alto Networks, 2023. [Online]. Available: </a:t>
            </a:r>
            <a:r>
              <a:rPr lang="en-IN" sz="1800" dirty="0">
                <a:hlinkClick r:id="rId1"/>
              </a:rPr>
              <a:t>https://www.paloaltonetworks.com/network-security</a:t>
            </a:r>
            <a:endParaRPr lang="en-IN" sz="1800" dirty="0"/>
          </a:p>
          <a:p>
            <a:pPr marL="76200" indent="0">
              <a:buNone/>
            </a:pPr>
            <a:r>
              <a:rPr lang="en-US" sz="1800" dirty="0"/>
              <a:t>[3] Z. Noor, S. Hina, F. Hayat, and G. A. Shah, “</a:t>
            </a:r>
            <a:r>
              <a:rPr lang="en-US" sz="1800" i="1" dirty="0"/>
              <a:t>An intelligent context-aware threat detection and response model for smart cyber-physical systems</a:t>
            </a:r>
            <a:r>
              <a:rPr lang="en-US" sz="1800" dirty="0"/>
              <a:t>,” Internet of Things, vol. 23, p. 100843, 2023.</a:t>
            </a:r>
            <a:endParaRPr lang="en-IN" sz="1800" dirty="0"/>
          </a:p>
          <a:p>
            <a:pPr marL="76200" indent="0">
              <a:buNone/>
            </a:pPr>
            <a:endParaRPr lang="en-US" sz="1800"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44102" y="189865"/>
            <a:ext cx="7315200" cy="566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12" name="Picture Placeholder 11" descr="Screenshot (82)"/>
          <p:cNvPicPr>
            <a:picLocks noGrp="1" noChangeAspect="1"/>
          </p:cNvPicPr>
          <p:nvPr>
            <p:ph type="pic" idx="2"/>
          </p:nvPr>
        </p:nvPicPr>
        <p:blipFill>
          <a:blip r:embed="rId1"/>
          <a:stretch>
            <a:fillRect/>
          </a:stretch>
        </p:blipFill>
        <p:spPr>
          <a:xfrm>
            <a:off x="643890" y="1391920"/>
            <a:ext cx="10259695" cy="46589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5965</Words>
  <Application>WPS Presentation</Application>
  <PresentationFormat>Widescreen</PresentationFormat>
  <Paragraphs>155</Paragraphs>
  <Slides>13</Slides>
  <Notes>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Arial</vt:lpstr>
      <vt:lpstr>Verdana</vt:lpstr>
      <vt:lpstr>Bookman Old Style</vt:lpstr>
      <vt:lpstr>Segoe Print</vt:lpstr>
      <vt:lpstr>Cambria</vt:lpstr>
      <vt:lpstr>Microsoft YaHei</vt:lpstr>
      <vt:lpstr>Arial Unicode MS</vt:lpstr>
      <vt:lpstr>Bioinformatics</vt:lpstr>
      <vt:lpstr>Centralized Application-Context Aware Firewall</vt:lpstr>
      <vt:lpstr>Content.</vt:lpstr>
      <vt:lpstr>Problem Statement Number: PSCS_365</vt:lpstr>
      <vt:lpstr>Objectives.</vt:lpstr>
      <vt:lpstr>Background and Related work</vt:lpstr>
      <vt:lpstr>Background and Related work(continued)</vt:lpstr>
      <vt:lpstr>Analysis of Problem Statement</vt:lpstr>
      <vt:lpstr>Analysis of Problem Statement </vt:lpstr>
      <vt:lpstr>Innovation or Novel Contributions</vt:lpstr>
      <vt:lpstr>Github Link</vt:lpstr>
      <vt:lpstr>References (IEEE Paper format)</vt:lpstr>
      <vt:lpstr>Timeline of the Project (Gantt Chart)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Sanjana Holla</cp:lastModifiedBy>
  <cp:revision>43</cp:revision>
  <dcterms:created xsi:type="dcterms:W3CDTF">2025-08-19T23:53:00Z</dcterms:created>
  <dcterms:modified xsi:type="dcterms:W3CDTF">2025-12-02T07:16:49Z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92F639353CB146D09059D6E472409C18_13</vt:lpwstr>
  </property>
  <property fmtid="{D5CDD505-2E9C-101B-9397-08002B2CF9AE}" pid="3" name="KSOProductBuildVer">
    <vt:lpwstr>2057-12.2.0.23149</vt:lpwstr>
  </property>
</Properties>
</file>